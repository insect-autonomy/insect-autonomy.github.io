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0287000" cy="1285875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4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https://insect-autonomy.github.io/</a:t>
            </a:r>
          </a:p>
          <a:p>
            <a:r>
              <a:t>- D:/insect-autonomy.github.io/src/content/pages/cfp.md</a:t>
            </a:r>
          </a:p>
          <a:p>
            <a:r>
              <a:t>- D:/insect-autonomy.github.io/src/content/pages/speakers.md</a:t>
            </a:r>
          </a:p>
          <a:p>
            <a:r>
              <a:t>- D:/insect-autonomy.github.io/public/insect-autonomy-banner.jpg</a:t>
            </a:r>
          </a:p>
          <a:p>
            <a:r>
              <a:t>- D:/insect-autonomy.github.io/public/BeeLogo.png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rcRect l="2907" r="2907"/>
          <a:stretch>
            <a:fillRect/>
          </a:stretch>
        </p:blipFill>
        <p:spPr>
          <a:xfrm>
            <a:off x="0" y="0"/>
            <a:ext cx="10287000" cy="4095750"/>
          </a:xfrm>
          <a:prstGeom prst="rect">
            <a:avLst/>
          </a:prstGeom>
        </p:spPr>
      </p:pic>
      <p:sp>
        <p:nvSpPr>
          <p:cNvPr id="2" name="hero-dark-overlay">
            <a:extLst>
              <a:ext uri="{FF2B5EF4-FFF2-40B4-BE49-F238E27FC236}">
                <a16:creationId xmlns:a16="http://schemas.microsoft.com/office/drawing/2014/main" id="{1A94E70D-1104-4F10-8F90-601EE6654A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287000" cy="4095750"/>
          </a:xfrm>
          <a:prstGeom prst="rect">
            <a:avLst/>
          </a:prstGeom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gold-top-rule">
            <a:extLst>
              <a:ext uri="{FF2B5EF4-FFF2-40B4-BE49-F238E27FC236}">
                <a16:creationId xmlns:a16="http://schemas.microsoft.com/office/drawing/2014/main" id="{3DEDA459-C065-4544-9ACD-E0947590DC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287000" cy="114300"/>
          </a:xfrm>
          <a:prstGeom prst="rect">
            <a:avLst/>
          </a:prstGeom>
          <a:solidFill>
            <a:srgbClr val="F0B92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logo-backplate">
            <a:extLst>
              <a:ext uri="{FF2B5EF4-FFF2-40B4-BE49-F238E27FC236}">
                <a16:creationId xmlns:a16="http://schemas.microsoft.com/office/drawing/2014/main" id="{BA62B6A7-2875-450F-AC9D-D4C10A53ECA7}"/>
              </a:ext>
            </a:extLst>
          </p:cNvPr>
          <p:cNvSpPr>
            <a:spLocks noGrp="1"/>
          </p:cNvSpPr>
          <p:nvPr/>
        </p:nvSpPr>
        <p:spPr>
          <a:xfrm>
            <a:off x="666750" y="589598"/>
            <a:ext cx="990600" cy="990600"/>
          </a:xfrm>
          <a:prstGeom prst="roundRect">
            <a:avLst>
              <a:gd name="adj" fmla="val 11538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submission-rail">
            <a:extLst>
              <a:ext uri="{FF2B5EF4-FFF2-40B4-BE49-F238E27FC236}">
                <a16:creationId xmlns:a16="http://schemas.microsoft.com/office/drawing/2014/main" id="{160E2465-F62E-4639-A7FC-FC5546BB9022}"/>
              </a:ext>
            </a:extLst>
          </p:cNvPr>
          <p:cNvSpPr>
            <a:spLocks noGrp="1"/>
          </p:cNvSpPr>
          <p:nvPr/>
        </p:nvSpPr>
        <p:spPr>
          <a:xfrm>
            <a:off x="0" y="4095750"/>
            <a:ext cx="10287000" cy="1066800"/>
          </a:xfrm>
          <a:prstGeom prst="rect">
            <a:avLst/>
          </a:prstGeom>
          <a:solidFill>
            <a:srgbClr val="E8B6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deadline-label">
            <a:extLst>
              <a:ext uri="{FF2B5EF4-FFF2-40B4-BE49-F238E27FC236}">
                <a16:creationId xmlns:a16="http://schemas.microsoft.com/office/drawing/2014/main" id="{B274DC8A-4C96-4527-B9D3-7A126164ECB4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32A12"/>
                </a:solidFill>
              </a:defRPr>
            </a:pPr>
            <a:r>
              <a:rPr sz="1200" b="1">
                <a:solidFill>
                  <a:srgbClr val="332A12"/>
                </a:solidFill>
              </a:rPr>
              <a:t>SUBMISSION DEADLINE</a:t>
            </a:r>
          </a:p>
        </p:txBody>
      </p:sp>
      <p:sp>
        <p:nvSpPr>
          <p:cNvPr id="12" name="deadline-value">
            <a:extLst>
              <a:ext uri="{FF2B5EF4-FFF2-40B4-BE49-F238E27FC236}">
                <a16:creationId xmlns:a16="http://schemas.microsoft.com/office/drawing/2014/main" id="{D3AC83AD-B63E-4B96-A442-948927BC2260}"/>
              </a:ext>
            </a:extLst>
          </p:cNvPr>
          <p:cNvSpPr>
            <a:spLocks noGrp="1"/>
          </p:cNvSpPr>
          <p:nvPr/>
        </p:nvSpPr>
        <p:spPr>
          <a:xfrm>
            <a:off x="685800" y="4600575"/>
            <a:ext cx="5286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5130E"/>
                </a:solidFill>
              </a:defRPr>
            </a:pPr>
            <a:r>
              <a:rPr lang="en-US" sz="1875" b="1" dirty="0">
                <a:solidFill>
                  <a:srgbClr val="15130E"/>
                </a:solidFill>
              </a:rPr>
              <a:t>Sep 1</a:t>
            </a:r>
            <a:r>
              <a:rPr sz="1875" b="1" dirty="0">
                <a:solidFill>
                  <a:srgbClr val="15130E"/>
                </a:solidFill>
              </a:rPr>
              <a:t>, 2026 · 11:59 PM </a:t>
            </a:r>
            <a:r>
              <a:rPr sz="1875" b="1" dirty="0" err="1">
                <a:solidFill>
                  <a:srgbClr val="15130E"/>
                </a:solidFill>
              </a:rPr>
              <a:t>AoE</a:t>
            </a:r>
            <a:endParaRPr sz="1875" b="1" dirty="0">
              <a:solidFill>
                <a:srgbClr val="15130E"/>
              </a:solidFill>
            </a:endParaRPr>
          </a:p>
        </p:txBody>
      </p:sp>
      <p:sp>
        <p:nvSpPr>
          <p:cNvPr id="13" name="submission-types">
            <a:extLst>
              <a:ext uri="{FF2B5EF4-FFF2-40B4-BE49-F238E27FC236}">
                <a16:creationId xmlns:a16="http://schemas.microsoft.com/office/drawing/2014/main" id="{BD12B0EF-F39F-4085-847C-7D1A51E7F03E}"/>
              </a:ext>
            </a:extLst>
          </p:cNvPr>
          <p:cNvSpPr>
            <a:spLocks noGrp="1"/>
          </p:cNvSpPr>
          <p:nvPr/>
        </p:nvSpPr>
        <p:spPr>
          <a:xfrm>
            <a:off x="6115050" y="4419600"/>
            <a:ext cx="3486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75" b="1">
                <a:solidFill>
                  <a:srgbClr val="15130E"/>
                </a:solidFill>
              </a:defRPr>
            </a:pPr>
            <a:r>
              <a:rPr sz="1275" b="1">
                <a:solidFill>
                  <a:srgbClr val="15130E"/>
                </a:solidFill>
              </a:rPr>
              <a:t>3–4 PAGE PAPERS  /  1–2 PAGE POSTER ABSTRACTS</a:t>
            </a:r>
          </a:p>
        </p:txBody>
      </p:sp>
      <p:sp>
        <p:nvSpPr>
          <p:cNvPr id="14" name="themes-heading">
            <a:extLst>
              <a:ext uri="{FF2B5EF4-FFF2-40B4-BE49-F238E27FC236}">
                <a16:creationId xmlns:a16="http://schemas.microsoft.com/office/drawing/2014/main" id="{CD1AF736-82E8-47AD-A948-E07D2FABE662}"/>
              </a:ext>
            </a:extLst>
          </p:cNvPr>
          <p:cNvSpPr>
            <a:spLocks noGrp="1"/>
          </p:cNvSpPr>
          <p:nvPr/>
        </p:nvSpPr>
        <p:spPr>
          <a:xfrm>
            <a:off x="685800" y="5581650"/>
            <a:ext cx="581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11610"/>
                </a:solidFill>
              </a:defRPr>
            </a:pPr>
            <a:r>
              <a:rPr sz="2550" b="1">
                <a:solidFill>
                  <a:srgbClr val="111610"/>
                </a:solidFill>
              </a:rPr>
              <a:t>Three tightly coupled research fronts</a:t>
            </a:r>
          </a:p>
        </p:txBody>
      </p:sp>
      <p:sp>
        <p:nvSpPr>
          <p:cNvPr id="15" name="themes-intro">
            <a:extLst>
              <a:ext uri="{FF2B5EF4-FFF2-40B4-BE49-F238E27FC236}">
                <a16:creationId xmlns:a16="http://schemas.microsoft.com/office/drawing/2014/main" id="{F419B824-6F5C-43F0-ACCC-9AFA7198EEB1}"/>
              </a:ext>
            </a:extLst>
          </p:cNvPr>
          <p:cNvSpPr>
            <a:spLocks noGrp="1"/>
          </p:cNvSpPr>
          <p:nvPr/>
        </p:nvSpPr>
        <p:spPr>
          <a:xfrm>
            <a:off x="685800" y="6115050"/>
            <a:ext cx="6572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4B5148"/>
                </a:solidFill>
              </a:defRPr>
            </a:pPr>
            <a:r>
              <a:rPr sz="1425">
                <a:solidFill>
                  <a:srgbClr val="4B5148"/>
                </a:solidFill>
              </a:rPr>
              <a:t>We invite research that connects algorithms, bodies, and hardware for reliable small-scale autonomy.</a:t>
            </a:r>
          </a:p>
        </p:txBody>
      </p:sp>
      <p:sp>
        <p:nvSpPr>
          <p:cNvPr id="16" name="theme-letter-0">
            <a:extLst>
              <a:ext uri="{FF2B5EF4-FFF2-40B4-BE49-F238E27FC236}">
                <a16:creationId xmlns:a16="http://schemas.microsoft.com/office/drawing/2014/main" id="{8E68447F-BD03-429E-8B52-161E71AF8CB5}"/>
              </a:ext>
            </a:extLst>
          </p:cNvPr>
          <p:cNvSpPr>
            <a:spLocks noGrp="1"/>
          </p:cNvSpPr>
          <p:nvPr/>
        </p:nvSpPr>
        <p:spPr>
          <a:xfrm>
            <a:off x="685800" y="689610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B78000"/>
                </a:solidFill>
              </a:defRPr>
            </a:pPr>
            <a:r>
              <a:rPr sz="2550" b="1">
                <a:solidFill>
                  <a:srgbClr val="B78000"/>
                </a:solidFill>
              </a:rPr>
              <a:t>A</a:t>
            </a:r>
          </a:p>
        </p:txBody>
      </p:sp>
      <p:sp>
        <p:nvSpPr>
          <p:cNvPr id="17" name="theme-rule-0">
            <a:extLst>
              <a:ext uri="{FF2B5EF4-FFF2-40B4-BE49-F238E27FC236}">
                <a16:creationId xmlns:a16="http://schemas.microsoft.com/office/drawing/2014/main" id="{47E0E142-93A6-4E2C-91D8-CD9CC3C6A688}"/>
              </a:ext>
            </a:extLst>
          </p:cNvPr>
          <p:cNvSpPr>
            <a:spLocks noGrp="1"/>
          </p:cNvSpPr>
          <p:nvPr/>
        </p:nvSpPr>
        <p:spPr>
          <a:xfrm>
            <a:off x="1314450" y="6934200"/>
            <a:ext cx="38100" cy="790575"/>
          </a:xfrm>
          <a:prstGeom prst="rect">
            <a:avLst/>
          </a:prstGeom>
          <a:solidFill>
            <a:srgbClr val="E1B43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heme-title-0">
            <a:extLst>
              <a:ext uri="{FF2B5EF4-FFF2-40B4-BE49-F238E27FC236}">
                <a16:creationId xmlns:a16="http://schemas.microsoft.com/office/drawing/2014/main" id="{EA956B5C-1C8B-404B-92CD-CD58D21B0B4A}"/>
              </a:ext>
            </a:extLst>
          </p:cNvPr>
          <p:cNvSpPr>
            <a:spLocks noGrp="1"/>
          </p:cNvSpPr>
          <p:nvPr/>
        </p:nvSpPr>
        <p:spPr>
          <a:xfrm>
            <a:off x="1543050" y="6896100"/>
            <a:ext cx="523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21712"/>
                </a:solidFill>
              </a:defRPr>
            </a:pPr>
            <a:r>
              <a:rPr sz="1350" b="1">
                <a:solidFill>
                  <a:srgbClr val="121712"/>
                </a:solidFill>
              </a:rPr>
              <a:t>RESOURCE-AWARE PERCEPTION &amp; LEARNING</a:t>
            </a:r>
          </a:p>
        </p:txBody>
      </p:sp>
      <p:sp>
        <p:nvSpPr>
          <p:cNvPr id="19" name="theme-body-0">
            <a:extLst>
              <a:ext uri="{FF2B5EF4-FFF2-40B4-BE49-F238E27FC236}">
                <a16:creationId xmlns:a16="http://schemas.microsoft.com/office/drawing/2014/main" id="{68D1E676-DE0E-4783-8C40-E60E785CEC14}"/>
              </a:ext>
            </a:extLst>
          </p:cNvPr>
          <p:cNvSpPr>
            <a:spLocks noGrp="1"/>
          </p:cNvSpPr>
          <p:nvPr/>
        </p:nvSpPr>
        <p:spPr>
          <a:xfrm>
            <a:off x="1543050" y="7219950"/>
            <a:ext cx="533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E554B"/>
                </a:solidFill>
              </a:defRPr>
            </a:pPr>
            <a:r>
              <a:rPr sz="1200">
                <a:solidFill>
                  <a:srgbClr val="4E554B"/>
                </a:solidFill>
              </a:rPr>
              <a:t>Extract task-relevant information under severe energy, memory, bandwidth, and latency limits.</a:t>
            </a:r>
          </a:p>
        </p:txBody>
      </p:sp>
      <p:sp>
        <p:nvSpPr>
          <p:cNvPr id="20" name="theme-letter-1">
            <a:extLst>
              <a:ext uri="{FF2B5EF4-FFF2-40B4-BE49-F238E27FC236}">
                <a16:creationId xmlns:a16="http://schemas.microsoft.com/office/drawing/2014/main" id="{9EDA8127-6A21-4EE0-8354-FCA65ABF6078}"/>
              </a:ext>
            </a:extLst>
          </p:cNvPr>
          <p:cNvSpPr>
            <a:spLocks noGrp="1"/>
          </p:cNvSpPr>
          <p:nvPr/>
        </p:nvSpPr>
        <p:spPr>
          <a:xfrm>
            <a:off x="685800" y="800100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B78000"/>
                </a:solidFill>
              </a:defRPr>
            </a:pPr>
            <a:r>
              <a:rPr sz="2550" b="1">
                <a:solidFill>
                  <a:srgbClr val="B78000"/>
                </a:solidFill>
              </a:rPr>
              <a:t>B</a:t>
            </a:r>
          </a:p>
        </p:txBody>
      </p:sp>
      <p:sp>
        <p:nvSpPr>
          <p:cNvPr id="21" name="theme-rule-1">
            <a:extLst>
              <a:ext uri="{FF2B5EF4-FFF2-40B4-BE49-F238E27FC236}">
                <a16:creationId xmlns:a16="http://schemas.microsoft.com/office/drawing/2014/main" id="{6D0233E7-A448-46C3-BBC5-53FA2145EDBD}"/>
              </a:ext>
            </a:extLst>
          </p:cNvPr>
          <p:cNvSpPr>
            <a:spLocks noGrp="1"/>
          </p:cNvSpPr>
          <p:nvPr/>
        </p:nvSpPr>
        <p:spPr>
          <a:xfrm>
            <a:off x="1314450" y="8039100"/>
            <a:ext cx="38100" cy="790575"/>
          </a:xfrm>
          <a:prstGeom prst="rect">
            <a:avLst/>
          </a:prstGeom>
          <a:solidFill>
            <a:srgbClr val="E1B43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heme-title-1">
            <a:extLst>
              <a:ext uri="{FF2B5EF4-FFF2-40B4-BE49-F238E27FC236}">
                <a16:creationId xmlns:a16="http://schemas.microsoft.com/office/drawing/2014/main" id="{114B6011-0341-405C-ABC8-543343DA2E82}"/>
              </a:ext>
            </a:extLst>
          </p:cNvPr>
          <p:cNvSpPr>
            <a:spLocks noGrp="1"/>
          </p:cNvSpPr>
          <p:nvPr/>
        </p:nvSpPr>
        <p:spPr>
          <a:xfrm>
            <a:off x="1543050" y="8001000"/>
            <a:ext cx="523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21712"/>
                </a:solidFill>
              </a:defRPr>
            </a:pPr>
            <a:r>
              <a:rPr sz="1350" b="1">
                <a:solidFill>
                  <a:srgbClr val="121712"/>
                </a:solidFill>
              </a:rPr>
              <a:t>MECHANICS, ACTUATION, DESIGN &amp; CONTROL</a:t>
            </a:r>
          </a:p>
        </p:txBody>
      </p:sp>
      <p:sp>
        <p:nvSpPr>
          <p:cNvPr id="23" name="theme-body-1">
            <a:extLst>
              <a:ext uri="{FF2B5EF4-FFF2-40B4-BE49-F238E27FC236}">
                <a16:creationId xmlns:a16="http://schemas.microsoft.com/office/drawing/2014/main" id="{95D95B9F-6BB0-4372-95DD-2621A7177C08}"/>
              </a:ext>
            </a:extLst>
          </p:cNvPr>
          <p:cNvSpPr>
            <a:spLocks noGrp="1"/>
          </p:cNvSpPr>
          <p:nvPr/>
        </p:nvSpPr>
        <p:spPr>
          <a:xfrm>
            <a:off x="1543050" y="8324850"/>
            <a:ext cx="533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E554B"/>
                </a:solidFill>
              </a:defRPr>
            </a:pPr>
            <a:r>
              <a:rPr sz="1200">
                <a:solidFill>
                  <a:srgbClr val="4E554B"/>
                </a:solidFill>
              </a:rPr>
              <a:t>Co-design morphology, compliant mechanics, actuation, sensing, and feedback control.</a:t>
            </a:r>
          </a:p>
        </p:txBody>
      </p:sp>
      <p:sp>
        <p:nvSpPr>
          <p:cNvPr id="24" name="theme-letter-2">
            <a:extLst>
              <a:ext uri="{FF2B5EF4-FFF2-40B4-BE49-F238E27FC236}">
                <a16:creationId xmlns:a16="http://schemas.microsoft.com/office/drawing/2014/main" id="{F0C0C961-4B71-44AA-BAAF-8E582FF86143}"/>
              </a:ext>
            </a:extLst>
          </p:cNvPr>
          <p:cNvSpPr>
            <a:spLocks noGrp="1"/>
          </p:cNvSpPr>
          <p:nvPr/>
        </p:nvSpPr>
        <p:spPr>
          <a:xfrm>
            <a:off x="685800" y="910590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B78000"/>
                </a:solidFill>
              </a:defRPr>
            </a:pPr>
            <a:r>
              <a:rPr sz="2550" b="1">
                <a:solidFill>
                  <a:srgbClr val="B78000"/>
                </a:solidFill>
              </a:rPr>
              <a:t>C</a:t>
            </a:r>
          </a:p>
        </p:txBody>
      </p:sp>
      <p:sp>
        <p:nvSpPr>
          <p:cNvPr id="25" name="theme-rule-2">
            <a:extLst>
              <a:ext uri="{FF2B5EF4-FFF2-40B4-BE49-F238E27FC236}">
                <a16:creationId xmlns:a16="http://schemas.microsoft.com/office/drawing/2014/main" id="{CB4E3D1D-F395-43C7-903D-C6126E4BDB53}"/>
              </a:ext>
            </a:extLst>
          </p:cNvPr>
          <p:cNvSpPr>
            <a:spLocks noGrp="1"/>
          </p:cNvSpPr>
          <p:nvPr/>
        </p:nvSpPr>
        <p:spPr>
          <a:xfrm>
            <a:off x="1314450" y="9144000"/>
            <a:ext cx="38100" cy="790575"/>
          </a:xfrm>
          <a:prstGeom prst="rect">
            <a:avLst/>
          </a:prstGeom>
          <a:solidFill>
            <a:srgbClr val="E1B43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heme-title-2">
            <a:extLst>
              <a:ext uri="{FF2B5EF4-FFF2-40B4-BE49-F238E27FC236}">
                <a16:creationId xmlns:a16="http://schemas.microsoft.com/office/drawing/2014/main" id="{FA307D7D-0CF3-4C7A-9B22-A1E77CB93463}"/>
              </a:ext>
            </a:extLst>
          </p:cNvPr>
          <p:cNvSpPr>
            <a:spLocks noGrp="1"/>
          </p:cNvSpPr>
          <p:nvPr/>
        </p:nvSpPr>
        <p:spPr>
          <a:xfrm>
            <a:off x="1543050" y="9105900"/>
            <a:ext cx="523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21712"/>
                </a:solidFill>
              </a:defRPr>
            </a:pPr>
            <a:r>
              <a:rPr sz="1350" b="1">
                <a:solidFill>
                  <a:srgbClr val="121712"/>
                </a:solidFill>
              </a:rPr>
              <a:t>ON-BOARD COMPUTE &amp; EDGE AI</a:t>
            </a:r>
          </a:p>
        </p:txBody>
      </p:sp>
      <p:sp>
        <p:nvSpPr>
          <p:cNvPr id="27" name="theme-body-2">
            <a:extLst>
              <a:ext uri="{FF2B5EF4-FFF2-40B4-BE49-F238E27FC236}">
                <a16:creationId xmlns:a16="http://schemas.microsoft.com/office/drawing/2014/main" id="{8F91FC2A-F499-4BE0-ABEE-74EA9F0E94DB}"/>
              </a:ext>
            </a:extLst>
          </p:cNvPr>
          <p:cNvSpPr>
            <a:spLocks noGrp="1"/>
          </p:cNvSpPr>
          <p:nvPr/>
        </p:nvSpPr>
        <p:spPr>
          <a:xfrm>
            <a:off x="1543050" y="9429750"/>
            <a:ext cx="533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E554B"/>
                </a:solidFill>
              </a:defRPr>
            </a:pPr>
            <a:r>
              <a:rPr sz="1200">
                <a:solidFill>
                  <a:srgbClr val="4E554B"/>
                </a:solidFill>
              </a:rPr>
              <a:t>Deploy estimation, planning, learning, and control within strict power, thermal, and mass budgets.</a:t>
            </a:r>
          </a:p>
        </p:txBody>
      </p:sp>
      <p:sp>
        <p:nvSpPr>
          <p:cNvPr id="28" name="speaker-column-bg">
            <a:extLst>
              <a:ext uri="{FF2B5EF4-FFF2-40B4-BE49-F238E27FC236}">
                <a16:creationId xmlns:a16="http://schemas.microsoft.com/office/drawing/2014/main" id="{22CDDA40-5E1B-4D92-AA2C-FA6F540FDDEE}"/>
              </a:ext>
            </a:extLst>
          </p:cNvPr>
          <p:cNvSpPr>
            <a:spLocks noGrp="1"/>
          </p:cNvSpPr>
          <p:nvPr/>
        </p:nvSpPr>
        <p:spPr>
          <a:xfrm>
            <a:off x="7239000" y="5581650"/>
            <a:ext cx="2362200" cy="4238625"/>
          </a:xfrm>
          <a:prstGeom prst="rect">
            <a:avLst/>
          </a:prstGeom>
          <a:solidFill>
            <a:srgbClr val="17201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peakers-heading">
            <a:extLst>
              <a:ext uri="{FF2B5EF4-FFF2-40B4-BE49-F238E27FC236}">
                <a16:creationId xmlns:a16="http://schemas.microsoft.com/office/drawing/2014/main" id="{94235CD1-0CC7-4E09-8F9A-CF4C4F267E6A}"/>
              </a:ext>
            </a:extLst>
          </p:cNvPr>
          <p:cNvSpPr>
            <a:spLocks noGrp="1"/>
          </p:cNvSpPr>
          <p:nvPr/>
        </p:nvSpPr>
        <p:spPr>
          <a:xfrm>
            <a:off x="7524750" y="5905500"/>
            <a:ext cx="1809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F2C653"/>
                </a:solidFill>
              </a:defRPr>
            </a:pPr>
            <a:r>
              <a:rPr sz="1950" b="1">
                <a:solidFill>
                  <a:srgbClr val="F2C653"/>
                </a:solidFill>
              </a:rPr>
              <a:t>CONFIRMED</a:t>
            </a:r>
          </a:p>
          <a:p>
            <a:pPr>
              <a:defRPr sz="1950" b="1">
                <a:solidFill>
                  <a:srgbClr val="F2C653"/>
                </a:solidFill>
              </a:defRPr>
            </a:pPr>
            <a:r>
              <a:rPr sz="1950" b="1">
                <a:solidFill>
                  <a:srgbClr val="F2C653"/>
                </a:solidFill>
              </a:rPr>
              <a:t>SPEAKERS</a:t>
            </a:r>
          </a:p>
        </p:txBody>
      </p:sp>
      <p:sp>
        <p:nvSpPr>
          <p:cNvPr id="30" name="speaker-gold-rule">
            <a:extLst>
              <a:ext uri="{FF2B5EF4-FFF2-40B4-BE49-F238E27FC236}">
                <a16:creationId xmlns:a16="http://schemas.microsoft.com/office/drawing/2014/main" id="{63ED51DC-6945-4E29-AC5B-BCDE3C8318CE}"/>
              </a:ext>
            </a:extLst>
          </p:cNvPr>
          <p:cNvSpPr>
            <a:spLocks noGrp="1"/>
          </p:cNvSpPr>
          <p:nvPr/>
        </p:nvSpPr>
        <p:spPr>
          <a:xfrm>
            <a:off x="7524750" y="6705600"/>
            <a:ext cx="609600" cy="38100"/>
          </a:xfrm>
          <a:prstGeom prst="rect">
            <a:avLst/>
          </a:prstGeom>
          <a:solidFill>
            <a:srgbClr val="F2C65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peakers-list">
            <a:extLst>
              <a:ext uri="{FF2B5EF4-FFF2-40B4-BE49-F238E27FC236}">
                <a16:creationId xmlns:a16="http://schemas.microsoft.com/office/drawing/2014/main" id="{5F5B8A28-F165-41BD-A238-738C7CEBC384}"/>
              </a:ext>
            </a:extLst>
          </p:cNvPr>
          <p:cNvSpPr>
            <a:spLocks noGrp="1"/>
          </p:cNvSpPr>
          <p:nvPr/>
        </p:nvSpPr>
        <p:spPr>
          <a:xfrm>
            <a:off x="7524750" y="6953250"/>
            <a:ext cx="1809750" cy="2724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buNone/>
              <a:defRPr sz="1050">
                <a:solidFill>
                  <a:srgbClr val="F7F4EC"/>
                </a:solidFill>
              </a:defRPr>
            </a:pPr>
            <a:r>
              <a:rPr sz="1050" dirty="0">
                <a:solidFill>
                  <a:srgbClr val="F7F4EC"/>
                </a:solidFill>
              </a:rPr>
              <a:t>Yiannis </a:t>
            </a:r>
            <a:r>
              <a:rPr sz="1050" dirty="0" err="1">
                <a:solidFill>
                  <a:srgbClr val="F7F4EC"/>
                </a:solidFill>
              </a:rPr>
              <a:t>Aloimonos</a:t>
            </a:r>
            <a:endParaRPr sz="1050" dirty="0">
              <a:solidFill>
                <a:srgbClr val="F7F4EC"/>
              </a:solidFill>
            </a:endParaRPr>
          </a:p>
          <a:p>
            <a:pPr>
              <a:lnSpc>
                <a:spcPct val="100000"/>
              </a:lnSpc>
              <a:buNone/>
              <a:defRPr sz="1050">
                <a:solidFill>
                  <a:srgbClr val="F7F4EC"/>
                </a:solidFill>
              </a:defRPr>
            </a:pPr>
            <a:r>
              <a:rPr sz="1050" dirty="0">
                <a:solidFill>
                  <a:srgbClr val="F7F4EC"/>
                </a:solidFill>
              </a:rPr>
              <a:t>University of Maryland</a:t>
            </a:r>
          </a:p>
          <a:p>
            <a:endParaRPr sz="1050" dirty="0">
              <a:solidFill>
                <a:srgbClr val="F7F4EC"/>
              </a:solidFill>
            </a:endParaRPr>
          </a:p>
          <a:p>
            <a:pPr>
              <a:lnSpc>
                <a:spcPct val="100000"/>
              </a:lnSpc>
              <a:buNone/>
              <a:defRPr sz="1050">
                <a:solidFill>
                  <a:srgbClr val="F7F4EC"/>
                </a:solidFill>
              </a:defRPr>
            </a:pPr>
            <a:r>
              <a:rPr sz="1050" dirty="0">
                <a:solidFill>
                  <a:srgbClr val="F7F4EC"/>
                </a:solidFill>
              </a:rPr>
              <a:t>Vijay </a:t>
            </a:r>
            <a:r>
              <a:rPr sz="1050" dirty="0" err="1">
                <a:solidFill>
                  <a:srgbClr val="F7F4EC"/>
                </a:solidFill>
              </a:rPr>
              <a:t>Janapa</a:t>
            </a:r>
            <a:r>
              <a:rPr sz="1050" dirty="0">
                <a:solidFill>
                  <a:srgbClr val="F7F4EC"/>
                </a:solidFill>
              </a:rPr>
              <a:t> Reddi</a:t>
            </a:r>
          </a:p>
          <a:p>
            <a:pPr>
              <a:lnSpc>
                <a:spcPct val="100000"/>
              </a:lnSpc>
              <a:buNone/>
              <a:defRPr sz="1050">
                <a:solidFill>
                  <a:srgbClr val="F7F4EC"/>
                </a:solidFill>
              </a:defRPr>
            </a:pPr>
            <a:r>
              <a:rPr sz="1050" dirty="0">
                <a:solidFill>
                  <a:srgbClr val="F7F4EC"/>
                </a:solidFill>
              </a:rPr>
              <a:t>Harvard University</a:t>
            </a:r>
          </a:p>
          <a:p>
            <a:endParaRPr sz="1050" dirty="0">
              <a:solidFill>
                <a:srgbClr val="F7F4EC"/>
              </a:solidFill>
            </a:endParaRPr>
          </a:p>
          <a:p>
            <a:pPr>
              <a:lnSpc>
                <a:spcPct val="100000"/>
              </a:lnSpc>
              <a:buNone/>
              <a:defRPr sz="1050">
                <a:solidFill>
                  <a:srgbClr val="F7F4EC"/>
                </a:solidFill>
              </a:defRPr>
            </a:pPr>
            <a:r>
              <a:rPr sz="1050" dirty="0">
                <a:solidFill>
                  <a:srgbClr val="F7F4EC"/>
                </a:solidFill>
              </a:rPr>
              <a:t>Frances Chance</a:t>
            </a:r>
          </a:p>
          <a:p>
            <a:pPr>
              <a:lnSpc>
                <a:spcPct val="100000"/>
              </a:lnSpc>
              <a:buNone/>
              <a:defRPr sz="1050">
                <a:solidFill>
                  <a:srgbClr val="F7F4EC"/>
                </a:solidFill>
              </a:defRPr>
            </a:pPr>
            <a:r>
              <a:rPr sz="1050" dirty="0">
                <a:solidFill>
                  <a:srgbClr val="F7F4EC"/>
                </a:solidFill>
              </a:rPr>
              <a:t>Sandia National Laboratories</a:t>
            </a:r>
          </a:p>
          <a:p>
            <a:endParaRPr sz="1050" dirty="0">
              <a:solidFill>
                <a:srgbClr val="F7F4EC"/>
              </a:solidFill>
            </a:endParaRPr>
          </a:p>
          <a:p>
            <a:r>
              <a:rPr lang="en-US" sz="1050" dirty="0">
                <a:solidFill>
                  <a:srgbClr val="F7F4EC"/>
                </a:solidFill>
              </a:rPr>
              <a:t>Geoffrey Barrows</a:t>
            </a:r>
          </a:p>
          <a:p>
            <a:r>
              <a:rPr lang="en-US" sz="1050" dirty="0" err="1">
                <a:solidFill>
                  <a:srgbClr val="F7F4EC"/>
                </a:solidFill>
              </a:rPr>
              <a:t>CentEye</a:t>
            </a:r>
            <a:r>
              <a:rPr lang="en-US" sz="1050" dirty="0">
                <a:solidFill>
                  <a:srgbClr val="F7F4EC"/>
                </a:solidFill>
              </a:rPr>
              <a:t>, Inc. </a:t>
            </a:r>
            <a:br>
              <a:rPr lang="en-US" sz="1050" dirty="0">
                <a:solidFill>
                  <a:srgbClr val="F7F4EC"/>
                </a:solidFill>
              </a:rPr>
            </a:br>
            <a:br>
              <a:rPr lang="en-US" sz="1050" dirty="0">
                <a:solidFill>
                  <a:srgbClr val="F7F4EC"/>
                </a:solidFill>
              </a:rPr>
            </a:br>
            <a:r>
              <a:rPr sz="1050" dirty="0">
                <a:solidFill>
                  <a:srgbClr val="F7F4EC"/>
                </a:solidFill>
              </a:rPr>
              <a:t>Elia </a:t>
            </a:r>
            <a:r>
              <a:rPr sz="1050" dirty="0" err="1">
                <a:solidFill>
                  <a:srgbClr val="F7F4EC"/>
                </a:solidFill>
              </a:rPr>
              <a:t>Cereda</a:t>
            </a:r>
            <a:endParaRPr sz="1050" dirty="0">
              <a:solidFill>
                <a:srgbClr val="F7F4EC"/>
              </a:solidFill>
            </a:endParaRPr>
          </a:p>
          <a:p>
            <a:pPr>
              <a:lnSpc>
                <a:spcPct val="100000"/>
              </a:lnSpc>
              <a:buNone/>
              <a:defRPr sz="1050">
                <a:solidFill>
                  <a:srgbClr val="F7F4EC"/>
                </a:solidFill>
              </a:defRPr>
            </a:pPr>
            <a:r>
              <a:rPr sz="1050" dirty="0">
                <a:solidFill>
                  <a:srgbClr val="F7F4EC"/>
                </a:solidFill>
              </a:rPr>
              <a:t>IDSIA, USI–SUPSI</a:t>
            </a:r>
          </a:p>
          <a:p>
            <a:endParaRPr lang="en-US" sz="1050" dirty="0">
              <a:solidFill>
                <a:srgbClr val="F7F4EC"/>
              </a:solidFill>
            </a:endParaRPr>
          </a:p>
          <a:p>
            <a:endParaRPr sz="1050" dirty="0">
              <a:solidFill>
                <a:srgbClr val="F7F4EC"/>
              </a:solidFill>
            </a:endParaRPr>
          </a:p>
        </p:txBody>
      </p:sp>
      <p:sp>
        <p:nvSpPr>
          <p:cNvPr id="32" name="perspective-band">
            <a:extLst>
              <a:ext uri="{FF2B5EF4-FFF2-40B4-BE49-F238E27FC236}">
                <a16:creationId xmlns:a16="http://schemas.microsoft.com/office/drawing/2014/main" id="{2FCA0141-0AF0-41FF-969A-8ACEE40B6DC3}"/>
              </a:ext>
            </a:extLst>
          </p:cNvPr>
          <p:cNvSpPr>
            <a:spLocks noGrp="1"/>
          </p:cNvSpPr>
          <p:nvPr/>
        </p:nvSpPr>
        <p:spPr>
          <a:xfrm>
            <a:off x="0" y="10163175"/>
            <a:ext cx="10287000" cy="1095375"/>
          </a:xfrm>
          <a:prstGeom prst="rect">
            <a:avLst/>
          </a:prstGeom>
          <a:solidFill>
            <a:srgbClr val="EAE6D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perspective-kicker">
            <a:extLst>
              <a:ext uri="{FF2B5EF4-FFF2-40B4-BE49-F238E27FC236}">
                <a16:creationId xmlns:a16="http://schemas.microsoft.com/office/drawing/2014/main" id="{93F96AC0-63F4-40A1-A6AB-89A1FAE19EE9}"/>
              </a:ext>
            </a:extLst>
          </p:cNvPr>
          <p:cNvSpPr>
            <a:spLocks noGrp="1"/>
          </p:cNvSpPr>
          <p:nvPr/>
        </p:nvSpPr>
        <p:spPr>
          <a:xfrm>
            <a:off x="685800" y="1040130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9A6C00"/>
                </a:solidFill>
              </a:defRPr>
            </a:pPr>
            <a:r>
              <a:rPr sz="1125" b="1">
                <a:solidFill>
                  <a:srgbClr val="9A6C00"/>
                </a:solidFill>
              </a:rPr>
              <a:t>POST-WORKSHOP OUTCOME</a:t>
            </a:r>
          </a:p>
        </p:txBody>
      </p:sp>
      <p:sp>
        <p:nvSpPr>
          <p:cNvPr id="34" name="perspective-copy">
            <a:extLst>
              <a:ext uri="{FF2B5EF4-FFF2-40B4-BE49-F238E27FC236}">
                <a16:creationId xmlns:a16="http://schemas.microsoft.com/office/drawing/2014/main" id="{7BF59A70-38D3-49E9-828E-69D88E485287}"/>
              </a:ext>
            </a:extLst>
          </p:cNvPr>
          <p:cNvSpPr>
            <a:spLocks noGrp="1"/>
          </p:cNvSpPr>
          <p:nvPr/>
        </p:nvSpPr>
        <p:spPr>
          <a:xfrm>
            <a:off x="685800" y="10687050"/>
            <a:ext cx="857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71B16"/>
                </a:solidFill>
              </a:defRPr>
            </a:pPr>
            <a:r>
              <a:rPr sz="1425" b="1">
                <a:solidFill>
                  <a:srgbClr val="171B16"/>
                </a:solidFill>
              </a:rPr>
              <a:t>Join a community perspective paper defining shared bottlenecks, evaluation needs, and a research roadmap for insect-scale autonomy.</a:t>
            </a:r>
          </a:p>
        </p:txBody>
      </p:sp>
      <p:sp>
        <p:nvSpPr>
          <p:cNvPr id="35" name="footer">
            <a:extLst>
              <a:ext uri="{FF2B5EF4-FFF2-40B4-BE49-F238E27FC236}">
                <a16:creationId xmlns:a16="http://schemas.microsoft.com/office/drawing/2014/main" id="{4A6D6F36-86EA-4376-981E-7D6C94D5C952}"/>
              </a:ext>
            </a:extLst>
          </p:cNvPr>
          <p:cNvSpPr>
            <a:spLocks noGrp="1"/>
          </p:cNvSpPr>
          <p:nvPr/>
        </p:nvSpPr>
        <p:spPr>
          <a:xfrm>
            <a:off x="0" y="11258550"/>
            <a:ext cx="10287000" cy="1600200"/>
          </a:xfrm>
          <a:prstGeom prst="rect">
            <a:avLst/>
          </a:prstGeom>
          <a:solidFill>
            <a:srgbClr val="0E130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cta">
            <a:extLst>
              <a:ext uri="{FF2B5EF4-FFF2-40B4-BE49-F238E27FC236}">
                <a16:creationId xmlns:a16="http://schemas.microsoft.com/office/drawing/2014/main" id="{0CEB82D2-3E78-49BC-9C6C-1EDC066E1FC5}"/>
              </a:ext>
            </a:extLst>
          </p:cNvPr>
          <p:cNvSpPr>
            <a:spLocks noGrp="1"/>
          </p:cNvSpPr>
          <p:nvPr/>
        </p:nvSpPr>
        <p:spPr>
          <a:xfrm>
            <a:off x="685800" y="1154430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F0C34F"/>
                </a:solidFill>
              </a:defRPr>
            </a:pPr>
            <a:r>
              <a:rPr sz="2250" b="1">
                <a:solidFill>
                  <a:srgbClr val="F0C34F"/>
                </a:solidFill>
              </a:rPr>
              <a:t>SUBMIT YOUR WORK</a:t>
            </a:r>
          </a:p>
        </p:txBody>
      </p:sp>
      <p:sp>
        <p:nvSpPr>
          <p:cNvPr id="37" name="website">
            <a:extLst>
              <a:ext uri="{FF2B5EF4-FFF2-40B4-BE49-F238E27FC236}">
                <a16:creationId xmlns:a16="http://schemas.microsoft.com/office/drawing/2014/main" id="{85F86A4D-CF31-4CE2-B44F-1F7AC493DF79}"/>
              </a:ext>
            </a:extLst>
          </p:cNvPr>
          <p:cNvSpPr>
            <a:spLocks noGrp="1"/>
          </p:cNvSpPr>
          <p:nvPr/>
        </p:nvSpPr>
        <p:spPr>
          <a:xfrm>
            <a:off x="685800" y="12001500"/>
            <a:ext cx="447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insect-autonomy.github.io</a:t>
            </a:r>
          </a:p>
        </p:txBody>
      </p:sp>
      <p:sp>
        <p:nvSpPr>
          <p:cNvPr id="38" name="venue">
            <a:extLst>
              <a:ext uri="{FF2B5EF4-FFF2-40B4-BE49-F238E27FC236}">
                <a16:creationId xmlns:a16="http://schemas.microsoft.com/office/drawing/2014/main" id="{6D7CA9D1-EB0C-4CF6-978B-1CAAC745EDF9}"/>
              </a:ext>
            </a:extLst>
          </p:cNvPr>
          <p:cNvSpPr>
            <a:spLocks noGrp="1"/>
          </p:cNvSpPr>
          <p:nvPr/>
        </p:nvSpPr>
        <p:spPr>
          <a:xfrm>
            <a:off x="5772150" y="11601450"/>
            <a:ext cx="3829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75">
                <a:solidFill>
                  <a:srgbClr val="E4E7E0"/>
                </a:solidFill>
              </a:defRPr>
            </a:pPr>
            <a:r>
              <a:rPr sz="1275">
                <a:solidFill>
                  <a:srgbClr val="E4E7E0"/>
                </a:solidFill>
              </a:rPr>
              <a:t>IEEE/RSJ International Conference on</a:t>
            </a:r>
          </a:p>
          <a:p>
            <a:pPr algn="r">
              <a:defRPr sz="1275">
                <a:solidFill>
                  <a:srgbClr val="E4E7E0"/>
                </a:solidFill>
              </a:defRPr>
            </a:pPr>
            <a:r>
              <a:rPr sz="1275">
                <a:solidFill>
                  <a:srgbClr val="E4E7E0"/>
                </a:solidFill>
              </a:rPr>
              <a:t>Intelligent Robots and Systems · IROS 2026</a:t>
            </a:r>
          </a:p>
        </p:txBody>
      </p:sp>
      <p:sp>
        <p:nvSpPr>
          <p:cNvPr id="39" name="format">
            <a:extLst>
              <a:ext uri="{FF2B5EF4-FFF2-40B4-BE49-F238E27FC236}">
                <a16:creationId xmlns:a16="http://schemas.microsoft.com/office/drawing/2014/main" id="{8C3F2DFA-AB08-4FFB-B0F0-F434D58B8FFF}"/>
              </a:ext>
            </a:extLst>
          </p:cNvPr>
          <p:cNvSpPr>
            <a:spLocks noGrp="1"/>
          </p:cNvSpPr>
          <p:nvPr/>
        </p:nvSpPr>
        <p:spPr>
          <a:xfrm>
            <a:off x="5772150" y="12287250"/>
            <a:ext cx="3829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F0C34F"/>
                </a:solidFill>
              </a:defRPr>
            </a:pPr>
            <a:r>
              <a:rPr sz="1200" b="1">
                <a:solidFill>
                  <a:srgbClr val="F0C34F"/>
                </a:solidFill>
              </a:rPr>
              <a:t>Invited talks · Spotlights · Posters · Panel</a:t>
            </a:r>
          </a:p>
        </p:txBody>
      </p:sp>
      <p:pic>
        <p:nvPicPr>
          <p:cNvPr id="5" name="Picture 4" descr="BeeFavicon.png">
            <a:extLst>
              <a:ext uri="{FF2B5EF4-FFF2-40B4-BE49-F238E27FC236}">
                <a16:creationId xmlns:a16="http://schemas.microsoft.com/office/drawing/2014/main" id="{DFA89D9A-9260-FCA7-FAF1-FFE9E23FB5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996" y="656273"/>
            <a:ext cx="860108" cy="860108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BEB4571F-B7D4-B285-058E-74ED9C9801B5}"/>
              </a:ext>
            </a:extLst>
          </p:cNvPr>
          <p:cNvSpPr/>
          <p:nvPr/>
        </p:nvSpPr>
        <p:spPr>
          <a:xfrm>
            <a:off x="0" y="113348"/>
            <a:ext cx="10287000" cy="323850"/>
          </a:xfrm>
          <a:prstGeom prst="rect">
            <a:avLst/>
          </a:prstGeom>
          <a:solidFill>
            <a:srgbClr val="A88000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event-date-top">
            <a:extLst>
              <a:ext uri="{FF2B5EF4-FFF2-40B4-BE49-F238E27FC236}">
                <a16:creationId xmlns:a16="http://schemas.microsoft.com/office/drawing/2014/main" id="{B1FB735D-5BF1-477E-9AF8-A6BDE0C10D60}"/>
              </a:ext>
            </a:extLst>
          </p:cNvPr>
          <p:cNvSpPr>
            <a:spLocks noGrp="1"/>
          </p:cNvSpPr>
          <p:nvPr/>
        </p:nvSpPr>
        <p:spPr>
          <a:xfrm>
            <a:off x="5259705" y="120016"/>
            <a:ext cx="3204210" cy="3228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rPr sz="1600" b="1" dirty="0">
                <a:solidFill>
                  <a:schemeClr val="bg1"/>
                </a:solidFill>
              </a:rPr>
              <a:t>OCTOBER 1 · PITTSBURGH, USA</a:t>
            </a:r>
          </a:p>
        </p:txBody>
      </p:sp>
      <p:sp>
        <p:nvSpPr>
          <p:cNvPr id="6" name="conference-kicker">
            <a:extLst>
              <a:ext uri="{FF2B5EF4-FFF2-40B4-BE49-F238E27FC236}">
                <a16:creationId xmlns:a16="http://schemas.microsoft.com/office/drawing/2014/main" id="{93B7C2F5-A27F-4B11-944D-43B541AB3AD8}"/>
              </a:ext>
            </a:extLst>
          </p:cNvPr>
          <p:cNvSpPr>
            <a:spLocks noGrp="1"/>
          </p:cNvSpPr>
          <p:nvPr/>
        </p:nvSpPr>
        <p:spPr>
          <a:xfrm>
            <a:off x="1939290" y="121921"/>
            <a:ext cx="320421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4CF65"/>
                </a:solidFill>
              </a:defRPr>
            </a:pPr>
            <a:r>
              <a:rPr dirty="0">
                <a:solidFill>
                  <a:schemeClr val="bg1"/>
                </a:solidFill>
              </a:rPr>
              <a:t>IROS 2026 · FULL-DAY WORKSHOP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862DC38-C1D6-6C64-E26F-6BCE8B46AFCA}"/>
              </a:ext>
            </a:extLst>
          </p:cNvPr>
          <p:cNvSpPr/>
          <p:nvPr/>
        </p:nvSpPr>
        <p:spPr>
          <a:xfrm>
            <a:off x="0" y="2628901"/>
            <a:ext cx="10287000" cy="1474470"/>
          </a:xfrm>
          <a:prstGeom prst="rect">
            <a:avLst/>
          </a:prstGeom>
          <a:gradFill>
            <a:gsLst>
              <a:gs pos="30000">
                <a:srgbClr val="9D7800">
                  <a:alpha val="58000"/>
                </a:srgbClr>
              </a:gs>
              <a:gs pos="0">
                <a:srgbClr val="A88000">
                  <a:lumMod val="87000"/>
                  <a:alpha val="0"/>
                </a:srgbClr>
              </a:gs>
              <a:gs pos="100000">
                <a:srgbClr val="A88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agline">
            <a:extLst>
              <a:ext uri="{FF2B5EF4-FFF2-40B4-BE49-F238E27FC236}">
                <a16:creationId xmlns:a16="http://schemas.microsoft.com/office/drawing/2014/main" id="{5064A4EC-F7A7-46C6-AE86-0911D0A71BB7}"/>
              </a:ext>
            </a:extLst>
          </p:cNvPr>
          <p:cNvSpPr>
            <a:spLocks noGrp="1"/>
          </p:cNvSpPr>
          <p:nvPr/>
        </p:nvSpPr>
        <p:spPr>
          <a:xfrm>
            <a:off x="1592104" y="3757613"/>
            <a:ext cx="7858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>
                <a:solidFill>
                  <a:srgbClr val="F5F3E9"/>
                </a:solidFill>
              </a:defRPr>
            </a:pPr>
            <a:r>
              <a:rPr sz="1650" dirty="0">
                <a:solidFill>
                  <a:srgbClr val="F5F3E9"/>
                </a:solidFill>
              </a:rPr>
              <a:t>Reliable autonomy when sensing, compute, power, actuation, and mass are all scarce.</a:t>
            </a:r>
          </a:p>
        </p:txBody>
      </p:sp>
      <p:sp>
        <p:nvSpPr>
          <p:cNvPr id="8" name="main-title">
            <a:extLst>
              <a:ext uri="{FF2B5EF4-FFF2-40B4-BE49-F238E27FC236}">
                <a16:creationId xmlns:a16="http://schemas.microsoft.com/office/drawing/2014/main" id="{3BB899E2-A625-4312-B36C-76B9AFDE2A5A}"/>
              </a:ext>
            </a:extLst>
          </p:cNvPr>
          <p:cNvSpPr>
            <a:spLocks noGrp="1"/>
          </p:cNvSpPr>
          <p:nvPr/>
        </p:nvSpPr>
        <p:spPr>
          <a:xfrm>
            <a:off x="722630" y="3086100"/>
            <a:ext cx="90741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90000"/>
              </a:lnSpc>
              <a:buNone/>
              <a:defRPr sz="4800" b="1">
                <a:solidFill>
                  <a:srgbClr val="FFFFFF"/>
                </a:solidFill>
              </a:defRPr>
            </a:pPr>
            <a:r>
              <a:rPr sz="4800" b="1" dirty="0">
                <a:ln w="19050">
                  <a:solidFill>
                    <a:schemeClr val="tx1"/>
                  </a:solidFill>
                </a:ln>
              </a:rPr>
              <a:t>INSECT-SCALE</a:t>
            </a:r>
            <a:r>
              <a:rPr lang="en-US" sz="4800" b="1" dirty="0">
                <a:ln w="19050">
                  <a:solidFill>
                    <a:schemeClr val="tx1"/>
                  </a:solidFill>
                </a:ln>
              </a:rPr>
              <a:t> </a:t>
            </a:r>
            <a:r>
              <a:rPr sz="4800" b="1" dirty="0">
                <a:ln w="19050">
                  <a:solidFill>
                    <a:schemeClr val="tx1"/>
                  </a:solidFill>
                </a:ln>
              </a:rPr>
              <a:t>AUTONOMY</a:t>
            </a:r>
          </a:p>
        </p:txBody>
      </p:sp>
    </p:spTree>
    <p:extLst>
      <p:ext uri="{BB962C8B-B14F-4D97-AF65-F5344CB8AC3E}">
        <p14:creationId xmlns:p14="http://schemas.microsoft.com/office/powerpoint/2010/main" val="177490141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298</Words>
  <Application>Microsoft Office PowerPoint</Application>
  <DocSecurity>0</DocSecurity>
  <PresentationFormat>Custom</PresentationFormat>
  <Paragraphs>46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Chahat Singh</cp:lastModifiedBy>
  <cp:revision>1</cp:revision>
  <dcterms:created xsi:type="dcterms:W3CDTF">2026-08-23T20:36:14Z</dcterms:created>
  <dcterms:modified xsi:type="dcterms:W3CDTF">2026-08-23T20:50:47Z</dcterms:modified>
</cp:coreProperties>
</file>